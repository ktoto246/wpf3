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</p:sldIdLst>
  <p:sldSz cx="12192000" cy="6858000"/>
  <p:notesSz cx="6858000" cy="9144000"/>
  <p:embeddedFontLst>
    <p:embeddedFont>
      <p:font typeface="Calibri" panose="020F0502020204030204"/>
      <p:regular r:id="rId13"/>
      <p:bold r:id="rId14"/>
      <p:italic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  <p:embeddedFont>
      <p:font typeface="Open Sans SemiBold"/>
      <p:regular r:id="rId21"/>
      <p:bold r:id="rId22"/>
      <p:italic r:id="rId23"/>
      <p:boldItalic r:id="rId24"/>
    </p:embeddedFont>
    <p:embeddedFont>
      <p:font typeface="Montserrat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4.fntdata"/><Relationship Id="rId25" Type="http://schemas.openxmlformats.org/officeDocument/2006/relationships/font" Target="fonts/font13.fntdata"/><Relationship Id="rId24" Type="http://schemas.openxmlformats.org/officeDocument/2006/relationships/font" Target="fonts/font12.fntdata"/><Relationship Id="rId23" Type="http://schemas.openxmlformats.org/officeDocument/2006/relationships/font" Target="fonts/font11.fntdata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90762" y="952500"/>
            <a:ext cx="761047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748B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ГАПОУ СО «БАЛАШОВСКИЙ ТЕХНИКУМ МЕХАНИЗАЦИИ СЕЛЬСКОГО ХОЗЯЙСТВА»</a:t>
            </a:r>
            <a:endParaRPr lang="en-US" sz="1350" b="1" i="0" u="none" strike="noStrike" cap="none">
              <a:solidFill>
                <a:srgbClr val="64748B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33500" y="1581150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 SemiBold"/>
                <a:cs typeface="Times New Roman" panose="02020603050405020304" charset="0"/>
                <a:sym typeface="Open Sans SemiBold"/>
              </a:rPr>
              <a:t>Дипломная работа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 SemiBold"/>
              <a:cs typeface="Times New Roman" panose="02020603050405020304" charset="0"/>
              <a:sym typeface="Open Sans SemiBol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95375" y="1981200"/>
            <a:ext cx="1000125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D91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Разработка информационной системы для автоматизации учета гемокомпонентов Службы крови</a:t>
            </a:r>
            <a:endParaRPr lang="en-US" sz="3600" b="1" i="0" u="none" strike="noStrike" cap="none">
              <a:solidFill>
                <a:srgbClr val="0B3D91"/>
              </a:solidFill>
              <a:latin typeface="Times New Roman" panose="02020603050405020304" charset="0"/>
              <a:ea typeface="Montserrat"/>
              <a:cs typeface="Times New Roman" panose="02020603050405020304" charset="0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419600"/>
            <a:ext cx="110490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Выполнил: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Студент группы ИП-41.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9149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Специальность: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09.02.07 — Информационные системы и программирование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410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 SemiBold"/>
                <a:cs typeface="Times New Roman" panose="02020603050405020304" charset="0"/>
                <a:sym typeface="Open Sans SemiBold"/>
              </a:rPr>
              <a:t>Балашов, 2026 г.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 SemiBold"/>
              <a:cs typeface="Times New Roman" panose="02020603050405020304" charset="0"/>
              <a:sym typeface="Open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138362"/>
            <a:ext cx="349254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138362"/>
            <a:ext cx="349254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138362"/>
            <a:ext cx="349254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Цель</a:t>
            </a:r>
            <a:r>
              <a:rPr lang="ru-RU" altLang="en-US" sz="3150" b="1" i="0" u="none" strike="noStrike" cap="none">
                <a:solidFill>
                  <a:srgbClr val="0F172A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, объект</a:t>
            </a:r>
            <a:r>
              <a:rPr lang="en-US" sz="3150" b="1" i="0" u="none" strike="noStrike" cap="none">
                <a:solidFill>
                  <a:srgbClr val="0F172A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 и предмет исследования</a:t>
            </a:r>
            <a:endParaRPr lang="en-US" sz="3150" b="1" i="0" u="none" strike="noStrike" cap="none">
              <a:solidFill>
                <a:srgbClr val="0F172A"/>
              </a:solidFill>
              <a:latin typeface="Times New Roman" panose="02020603050405020304" charset="0"/>
              <a:ea typeface="Montserrat"/>
              <a:cs typeface="Times New Roman" panose="02020603050405020304" charset="0"/>
              <a:sym typeface="Montserrat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04875" y="2519362"/>
            <a:ext cx="282579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04875" y="3100387"/>
            <a:ext cx="296708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D91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Цель работы</a:t>
            </a:r>
            <a:endParaRPr lang="en-US" sz="1800" b="1" i="0" u="none" strike="noStrike" cap="none">
              <a:solidFill>
                <a:srgbClr val="0B3D91"/>
              </a:solidFill>
              <a:latin typeface="Times New Roman" panose="02020603050405020304" charset="0"/>
              <a:ea typeface="Montserrat"/>
              <a:cs typeface="Times New Roman" panose="02020603050405020304" charset="0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3709987"/>
            <a:ext cx="28257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Разработка десктопного WPF-приложения для автоматизации заготовки, карантина и выдачи гемокомпонентов.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83174" y="2519362"/>
            <a:ext cx="282579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4683174" y="3100387"/>
            <a:ext cx="296708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D91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Объект</a:t>
            </a:r>
            <a:endParaRPr lang="en-US" sz="1800" b="1" i="0" u="none" strike="noStrike" cap="none">
              <a:solidFill>
                <a:srgbClr val="0B3D91"/>
              </a:solidFill>
              <a:latin typeface="Times New Roman" panose="02020603050405020304" charset="0"/>
              <a:ea typeface="Montserrat"/>
              <a:cs typeface="Times New Roman" panose="02020603050405020304" charset="0"/>
              <a:sym typeface="Montserrat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683174" y="3709987"/>
            <a:ext cx="28257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Процессы учета движения биоматериалов и медицинских услуг в Центре крови г. Балашова.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61474" y="2519362"/>
            <a:ext cx="282579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461474" y="3100387"/>
            <a:ext cx="296708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D91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Предмет</a:t>
            </a:r>
            <a:endParaRPr lang="en-US" sz="1800" b="1" i="0" u="none" strike="noStrike" cap="none">
              <a:solidFill>
                <a:srgbClr val="0B3D91"/>
              </a:solidFill>
              <a:latin typeface="Times New Roman" panose="02020603050405020304" charset="0"/>
              <a:ea typeface="Montserrat"/>
              <a:cs typeface="Times New Roman" panose="02020603050405020304" charset="0"/>
              <a:sym typeface="Montserrat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8461474" y="3709987"/>
            <a:ext cx="28257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Методы и программные средства автоматизации на базе платформы .NET 8 и EF Core.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Задачи исследования</a:t>
            </a:r>
            <a:endParaRPr lang="en-US" sz="3150" b="1" i="0" u="none" strike="noStrike" cap="none">
              <a:solidFill>
                <a:srgbClr val="0F172A"/>
              </a:solidFill>
              <a:latin typeface="Times New Roman" panose="02020603050405020304" charset="0"/>
              <a:ea typeface="Montserrat"/>
              <a:cs typeface="Times New Roman" panose="02020603050405020304" charset="0"/>
              <a:sym typeface="Montserrat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000125" y="2590800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Анализ процессов: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Изучение текущих бумажных журналов и выявление "узких мест" в работе филиала.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000125" y="3133725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Проектирование: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Разработка структуры реляционной базы данных из 7 ключевых сущностей.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000125" y="3676650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Интерфейс: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Создание специализированных страниц (Регистратура, Склад, Карантин, Аналитика).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000125" y="4219575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Бизнес-логика: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Реализация CRUD-операций и контроля 180-дневного карантина плазмы.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000125" y="4762500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Тестирование: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Проверка надежности системы и подготовка к опытной эксплуатации.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6289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1718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7147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2576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71500" y="48006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0431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Анализ </a:t>
            </a:r>
            <a:r>
              <a:rPr lang="ru-RU" altLang="en-US" sz="3150" b="1" i="0" u="none" strike="noStrike" cap="none">
                <a:solidFill>
                  <a:srgbClr val="0F172A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предметной области</a:t>
            </a:r>
            <a:endParaRPr lang="ru-RU" altLang="en-US" sz="3150" b="1" i="0" u="none" strike="noStrike" cap="none">
              <a:solidFill>
                <a:srgbClr val="0F172A"/>
              </a:solidFill>
              <a:latin typeface="Times New Roman" panose="02020603050405020304" charset="0"/>
              <a:ea typeface="Montserrat"/>
              <a:cs typeface="Times New Roman" panose="02020603050405020304" charset="0"/>
              <a:sym typeface="Montserrat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273084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Основные этапы работы:</a:t>
            </a:r>
            <a:endParaRPr lang="en-US" sz="1500" b="1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4635847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Система должна охватывать все этапы жизненного цикла гемокомпонента.</a:t>
            </a:r>
            <a:endParaRPr lang="en-US" sz="1350" b="0" i="1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0431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685800" y="322614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322614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Регистрация и прием доноров.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85800" y="353094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762000" y="353094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Лабораторный скрининг (ВИЧ, гепатиты).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85800" y="383574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383574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Фракционирование и хранение на складе.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85800" y="414054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414054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Контроль карантина и выдача в ЛПУ.</a:t>
            </a:r>
            <a:endParaRPr lang="en-US" sz="1500" b="0" i="0" u="none" strike="noStrike" cap="none">
              <a:solidFill>
                <a:srgbClr val="334155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728912"/>
            <a:ext cx="35559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17950" y="2728912"/>
            <a:ext cx="35559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4400" y="2728912"/>
            <a:ext cx="3556099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043362"/>
            <a:ext cx="35559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317950" y="4043362"/>
            <a:ext cx="35559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064400" y="4043362"/>
            <a:ext cx="3556099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71500" y="571500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Выбор средств разработки</a:t>
            </a:r>
            <a:endParaRPr lang="en-US" sz="3150" b="1" i="0" u="none" strike="noStrike" cap="none">
              <a:solidFill>
                <a:srgbClr val="0F172A"/>
              </a:solidFill>
              <a:latin typeface="Times New Roman" panose="02020603050405020304" charset="0"/>
              <a:ea typeface="Montserrat"/>
              <a:cs typeface="Times New Roman" panose="02020603050405020304" charset="0"/>
              <a:sym typeface="Montserrat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71525" y="2928937"/>
            <a:ext cx="3155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3D91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.NET 8.0 WPF</a:t>
            </a:r>
            <a:endParaRPr lang="en-US" sz="1500" b="1" i="0" u="none" strike="noStrike" cap="none">
              <a:solidFill>
                <a:srgbClr val="0B3D91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4517975" y="2928937"/>
            <a:ext cx="3155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3D91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MS SQL Server</a:t>
            </a:r>
            <a:endParaRPr lang="en-US" sz="1500" b="1" i="0" u="none" strike="noStrike" cap="none">
              <a:solidFill>
                <a:srgbClr val="0B3D91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8264425" y="2928937"/>
            <a:ext cx="31560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3D91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C# 10.0</a:t>
            </a:r>
            <a:endParaRPr lang="en-US" sz="1500" b="1" i="0" u="none" strike="noStrike" cap="none">
              <a:solidFill>
                <a:srgbClr val="0B3D91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771525" y="4243387"/>
            <a:ext cx="3155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3D91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EF Core</a:t>
            </a:r>
            <a:endParaRPr lang="en-US" sz="1500" b="1" i="0" u="none" strike="noStrike" cap="none">
              <a:solidFill>
                <a:srgbClr val="0B3D91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4517975" y="4243387"/>
            <a:ext cx="3155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3D91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LiveCharts2</a:t>
            </a:r>
            <a:endParaRPr lang="en-US" sz="1500" b="1" i="0" u="none" strike="noStrike" cap="none">
              <a:solidFill>
                <a:srgbClr val="0B3D91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8264425" y="4243387"/>
            <a:ext cx="31560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3D91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ClosedXML</a:t>
            </a:r>
            <a:endParaRPr lang="en-US" sz="1500" b="1" i="0" u="none" strike="noStrike" cap="none">
              <a:solidFill>
                <a:srgbClr val="0B3D91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0" y="2646015"/>
            <a:ext cx="1219200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Демонстрация приложения</a:t>
            </a:r>
            <a:endParaRPr lang="en-US" sz="4800" b="1" i="0" u="none" strike="noStrike" cap="none">
              <a:solidFill>
                <a:srgbClr val="FFFFFF"/>
              </a:solidFill>
              <a:latin typeface="Times New Roman" panose="02020603050405020304" charset="0"/>
              <a:ea typeface="Montserrat"/>
              <a:cs typeface="Times New Roman" panose="02020603050405020304" charset="0"/>
              <a:sym typeface="Montserrat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0" y="3617565"/>
            <a:ext cx="12192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Обзор интерфейса и функциональных возможностей</a:t>
            </a:r>
            <a:endParaRPr lang="en-US" sz="1800" b="0" i="0" u="none" strike="noStrike" cap="none">
              <a:solidFill>
                <a:srgbClr val="CBD5E1"/>
              </a:solidFill>
              <a:latin typeface="Times New Roman" panose="02020603050405020304" charset="0"/>
              <a:ea typeface="Open Sans"/>
              <a:cs typeface="Times New Roman" panose="02020603050405020304" charset="0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1461</Words>
  <Application>WPS Presentation</Application>
  <PresentationFormat/>
  <Paragraphs>78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Open Sans</vt:lpstr>
      <vt:lpstr>Open Sans SemiBold</vt:lpstr>
      <vt:lpstr>Montserrat</vt:lpstr>
      <vt:lpstr>Microsoft YaHei</vt:lpstr>
      <vt:lpstr>Arial Unicode MS</vt:lpstr>
      <vt:lpstr>Times New Roman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Кирилл Шепелев</cp:lastModifiedBy>
  <cp:revision>1</cp:revision>
  <dcterms:created xsi:type="dcterms:W3CDTF">2026-06-04T18:14:04Z</dcterms:created>
  <dcterms:modified xsi:type="dcterms:W3CDTF">2026-06-04T18:14:06Z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B923BD4C473042019933CFC3957EFA64_12</vt:lpwstr>
  </property>
</Properties>
</file>