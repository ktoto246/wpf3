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3" r:id="rId7"/>
    <p:sldId id="259" r:id="rId8"/>
    <p:sldId id="261" r:id="rId9"/>
    <p:sldId id="262" r:id="rId10"/>
  </p:sldIdLst>
  <p:sldSz cx="12192000" cy="6858000"/>
  <p:notesSz cx="6858000" cy="9144000"/>
  <p:embeddedFontLst>
    <p:embeddedFont>
      <p:font typeface="Calibri" panose="020F0502020204030204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54" y="108"/>
      </p:cViewPr>
      <p:guideLst>
        <p:guide orient="horz" pos="2154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font" Target="fonts/font4.fntdata"/><Relationship Id="rId16" Type="http://schemas.openxmlformats.org/officeDocument/2006/relationships/font" Target="fonts/font3.fntdata"/><Relationship Id="rId15" Type="http://schemas.openxmlformats.org/officeDocument/2006/relationships/font" Target="fonts/font2.fntdata"/><Relationship Id="rId14" Type="http://schemas.openxmlformats.org/officeDocument/2006/relationships/font" Target="fonts/font1.fntdata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6" name="Google Shape;1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176338" y="454469"/>
            <a:ext cx="983932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ГАПОУ СО «БАЛАШОВСКИЙ ТЕХНИКУМ МЕХАНИЗАЦИИ СЕЛЬСКОГО ХОЗЯЙСТВА»</a:t>
            </a:r>
            <a:endParaRPr lang="en-US" b="1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33498" y="890326"/>
            <a:ext cx="9525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Дипломн</a:t>
            </a:r>
            <a:r>
              <a:rPr lang="ru-RU" sz="1800" b="1" dirty="0" err="1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ый</a:t>
            </a:r>
            <a:r>
              <a:rPr lang="ru-RU" sz="1800" b="1" dirty="0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 проект</a:t>
            </a:r>
            <a:endParaRPr lang="ru-RU" sz="1800" b="1" dirty="0">
              <a:solidFill>
                <a:schemeClr val="tx1"/>
              </a:solidFill>
              <a:latin typeface="Times New Roman" panose="02020603050405020304" charset="0"/>
              <a:ea typeface="Open Sans SemiBold"/>
              <a:cs typeface="Times New Roman" panose="02020603050405020304" charset="0"/>
              <a:sym typeface="Open Sans SemiBold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на тему:</a:t>
            </a:r>
            <a:endParaRPr lang="en-US" sz="1800" b="1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 SemiBold"/>
              <a:cs typeface="Times New Roman" panose="02020603050405020304" charset="0"/>
              <a:sym typeface="Open Sans SemiBold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095374" y="1875474"/>
            <a:ext cx="10001250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Разработка</a:t>
            </a:r>
            <a:r>
              <a:rPr lang="en-US" sz="3600" b="1" i="0" u="none" strike="noStrike" cap="none" dirty="0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</a:t>
            </a:r>
            <a:r>
              <a:rPr lang="en-US" sz="3600" b="1" i="0" u="none" strike="noStrike" cap="none" dirty="0" err="1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информационной</a:t>
            </a:r>
            <a:r>
              <a:rPr lang="en-US" sz="3600" b="1" i="0" u="none" strike="noStrike" cap="none" dirty="0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</a:t>
            </a:r>
            <a:r>
              <a:rPr lang="en-US" sz="3600" b="1" i="0" u="none" strike="noStrike" cap="none" dirty="0" err="1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системы</a:t>
            </a:r>
            <a:r>
              <a:rPr lang="en-US" sz="3600" b="1" i="0" u="none" strike="noStrike" cap="none" dirty="0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</a:t>
            </a:r>
            <a:endParaRPr lang="ru-RU" sz="3600" b="1" i="0" u="none" strike="noStrike" cap="none" dirty="0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учета</a:t>
            </a:r>
            <a:r>
              <a:rPr lang="en-US" sz="3600" b="1" i="0" u="none" strike="noStrike" cap="none" dirty="0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</a:t>
            </a:r>
            <a:r>
              <a:rPr lang="ru-RU" sz="3600" b="1" dirty="0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доноров и управления запасами компонентов крови отделения заготовки крови №1 ФЛ ГУЗ «СОСПК»</a:t>
            </a:r>
            <a:endParaRPr lang="en-US" sz="3600" b="1" i="0" u="none" strike="noStrike" cap="none" dirty="0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067551" y="4263747"/>
            <a:ext cx="4714874" cy="210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Выполнил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: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endParaRPr lang="ru-RU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Студент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группы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ИП-41</a:t>
            </a:r>
            <a:endParaRPr lang="ru-RU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Специальность: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endParaRPr lang="ru-RU" sz="1500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09.02.07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Информационные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системы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программирование</a:t>
            </a:r>
            <a:endParaRPr lang="ru-RU" sz="1500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  <a:p>
            <a:pPr>
              <a:lnSpc>
                <a:spcPct val="150000"/>
              </a:lnSpc>
            </a:pPr>
            <a:r>
              <a:rPr lang="ru-RU" sz="1500" b="1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Проверил:</a:t>
            </a:r>
            <a:r>
              <a:rPr lang="ru-RU" sz="1500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Сухова Л.Г.</a:t>
            </a:r>
            <a:endParaRPr lang="en-US" sz="1500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4514848" y="6179656"/>
            <a:ext cx="31622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Балашов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 SemiBold"/>
                <a:cs typeface="Times New Roman" panose="02020603050405020304" charset="0"/>
                <a:sym typeface="Open Sans SemiBold"/>
              </a:rPr>
              <a:t>, 2026 г.</a:t>
            </a:r>
            <a:endParaRPr lang="en-US" sz="1500" b="1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 SemiBold"/>
              <a:cs typeface="Times New Roman" panose="02020603050405020304" charset="0"/>
              <a:sym typeface="Open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138362"/>
            <a:ext cx="3492549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49799" y="2138362"/>
            <a:ext cx="3492549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128099" y="2138362"/>
            <a:ext cx="3492549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571500" y="571500"/>
            <a:ext cx="11601450" cy="48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Цель</a:t>
            </a:r>
            <a:r>
              <a:rPr lang="ru-RU" alt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, объект</a:t>
            </a: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и предмет исследования</a:t>
            </a:r>
            <a:endParaRPr lang="en-US" sz="3150" b="1" i="0" u="none" strike="noStrike" cap="none">
              <a:solidFill>
                <a:srgbClr val="0F172A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71500" y="12096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904875" y="2519362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04875" y="3100387"/>
            <a:ext cx="29670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Цель работы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904875" y="3709987"/>
            <a:ext cx="28257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Разработка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десктопного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WPF-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приложения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для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автоматизации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заготовки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карантина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выдачи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гемокомпонентов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.</a:t>
            </a:r>
            <a:endParaRPr lang="en-US" sz="1500" b="0" i="0" u="none" strike="noStrike" cap="none" dirty="0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4683174" y="2519362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4683174" y="3100387"/>
            <a:ext cx="29670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Объект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4683174" y="3709987"/>
            <a:ext cx="28257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Процессы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учета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движения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биоматериалов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медицинских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услуг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в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Центре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крови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г.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Балашова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.</a:t>
            </a:r>
            <a:endParaRPr lang="en-US" sz="1500" b="0" i="0" u="none" strike="noStrike" cap="none" dirty="0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07" name="Google Shape;107;p14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461474" y="2519362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461474" y="3100387"/>
            <a:ext cx="29670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Предмет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8461474" y="3709987"/>
            <a:ext cx="28257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Методы и программные средства автоматизации на базе платформы .NET 8 и EF Core.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571500" y="571500"/>
            <a:ext cx="11601450" cy="48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Задачи исследования</a:t>
            </a:r>
            <a:endParaRPr lang="en-US" sz="3150" b="1" i="0" u="none" strike="noStrike" cap="none">
              <a:solidFill>
                <a:srgbClr val="0F172A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571500" y="12096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1000125" y="2590800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Анализ процессов: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Изучение текущих бумажных журналов и выявление "узких мест" в работе филиала.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1000125" y="3133725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Проектирование: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Разработка структуры реляционной базы данных из 7 ключевых сущностей.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00125" y="3676650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Интерфейс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Создание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специализированных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страниц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Регистратура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Склад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Карантин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Аналитика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).</a:t>
            </a:r>
            <a:endParaRPr lang="en-US" sz="1500" b="0" i="0" u="none" strike="noStrike" cap="none" dirty="0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000125" y="4219575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Бизнес-логика: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Реализация CRUD-операций и контроля 180-дневного карантина плазмы.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00125" y="4762500"/>
            <a:ext cx="10620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Тестирование: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Проверка надежности системы и подготовка к опытной эксплуатации.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22" name="Google Shape;122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6289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17182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71475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71500" y="4257675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71500" y="4800600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90550" y="2152650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68849" y="2152650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147149" y="2152650"/>
            <a:ext cx="3492549" cy="359092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7"/>
          <p:cNvSpPr txBox="1"/>
          <p:nvPr/>
        </p:nvSpPr>
        <p:spPr>
          <a:xfrm>
            <a:off x="590550" y="571500"/>
            <a:ext cx="11601450" cy="48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Актуальность и проблемы учета</a:t>
            </a:r>
            <a:endParaRPr lang="en-US" sz="3150" b="1" i="0" u="none" strike="noStrike" cap="none">
              <a:solidFill>
                <a:srgbClr val="0F172A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590550" y="12096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923925" y="2533650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7"/>
          <p:cNvSpPr txBox="1"/>
          <p:nvPr/>
        </p:nvSpPr>
        <p:spPr>
          <a:xfrm>
            <a:off x="923925" y="3114675"/>
            <a:ext cx="2967089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Риски бумажного учета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923925" y="4000500"/>
            <a:ext cx="28257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Высокая вероятность человеческого фактора при контроле сроков годности и групп крови.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59" name="Google Shape;159;p17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4702224" y="2533650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/>
          <p:nvPr/>
        </p:nvSpPr>
        <p:spPr>
          <a:xfrm>
            <a:off x="4702224" y="3114675"/>
            <a:ext cx="29670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Сложность контроля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4702224" y="3724275"/>
            <a:ext cx="28257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Трудоемкий ручной расчет периодов карантина плазмы (180 дней), риск ошибочной выдачи.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62" name="Google Shape;162;p17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480524" y="2533650"/>
            <a:ext cx="28257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8480524" y="3114675"/>
            <a:ext cx="296708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Решение</a:t>
            </a:r>
            <a:endParaRPr lang="en-US" sz="1800" b="1" i="0" u="none" strike="noStrike" cap="none">
              <a:solidFill>
                <a:srgbClr val="0B3D91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8480524" y="3724275"/>
            <a:ext cx="28257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Автоматическая верификация данных, дашборды аналитики и мгновенный экспорт отчетов.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81750" y="2043112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571500"/>
            <a:ext cx="11601450" cy="48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Анализ </a:t>
            </a:r>
            <a:r>
              <a:rPr lang="ru-RU" alt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предметной области</a:t>
            </a:r>
            <a:endParaRPr lang="ru-RU" altLang="en-US" sz="3150" b="1" i="0" u="none" strike="noStrike" cap="none">
              <a:solidFill>
                <a:srgbClr val="0F172A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71500" y="12096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2730847"/>
            <a:ext cx="523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Основные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этапы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работы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:</a:t>
            </a:r>
            <a:endParaRPr lang="en-US" sz="1500" b="1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4635847"/>
            <a:ext cx="523875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Система должна охватывать все этапы жизненного цикла гемокомпонента.</a:t>
            </a:r>
            <a:endParaRPr lang="en-US" sz="1350" b="0" i="1" u="none" strike="noStrike" cap="none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381750" y="2043112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685800" y="322614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762000" y="3226147"/>
            <a:ext cx="5048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Регистрация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прием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доноров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.</a:t>
            </a:r>
            <a:endParaRPr lang="en-US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685800" y="353094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62000" y="3530947"/>
            <a:ext cx="5048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Лабораторный скрининг (ВИЧ, гепатиты).</a:t>
            </a:r>
            <a:endParaRPr lang="en-US" sz="1500" b="0" i="0" u="none" strike="noStrike" cap="none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685800" y="383574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762000" y="3835747"/>
            <a:ext cx="5048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Фракционирование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хранение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на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складе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.</a:t>
            </a:r>
            <a:endParaRPr lang="en-US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685800" y="414054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500" b="0" i="0" u="none" strike="noStrike" cap="none">
              <a:solidFill>
                <a:srgbClr val="334155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762000" y="4140547"/>
            <a:ext cx="5048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Контроль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карантина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выдача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в ЛПУ.</a:t>
            </a:r>
            <a:endParaRPr lang="en-US" sz="1500" b="0" i="0" u="none" strike="noStrike" cap="none" dirty="0">
              <a:solidFill>
                <a:schemeClr val="tx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728912"/>
            <a:ext cx="355595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17950" y="2728912"/>
            <a:ext cx="355595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064400" y="2728912"/>
            <a:ext cx="3556099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8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71500" y="4043362"/>
            <a:ext cx="355595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4317950" y="4043362"/>
            <a:ext cx="355595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064400" y="4043362"/>
            <a:ext cx="3556099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571500" y="571500"/>
            <a:ext cx="11601450" cy="48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Выбор средств разработки</a:t>
            </a:r>
            <a:endParaRPr lang="en-US" sz="3150" b="1" i="0" u="none" strike="noStrike" cap="none">
              <a:solidFill>
                <a:srgbClr val="0F172A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71500" y="12096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78" name="Google Shape;178;p18"/>
          <p:cNvSpPr txBox="1"/>
          <p:nvPr/>
        </p:nvSpPr>
        <p:spPr>
          <a:xfrm>
            <a:off x="771525" y="2928937"/>
            <a:ext cx="31559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.NET 8.0 WPF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4517975" y="2928937"/>
            <a:ext cx="31559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MS SQL Server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8264425" y="2928937"/>
            <a:ext cx="3156049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C# 10.0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771525" y="4243387"/>
            <a:ext cx="31559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EF Core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82" name="Google Shape;182;p18"/>
          <p:cNvSpPr txBox="1"/>
          <p:nvPr/>
        </p:nvSpPr>
        <p:spPr>
          <a:xfrm>
            <a:off x="4517975" y="4243387"/>
            <a:ext cx="31559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LiveCharts2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8264425" y="4243387"/>
            <a:ext cx="3156049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B3D9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ClosedXML</a:t>
            </a:r>
            <a:endParaRPr lang="en-US" sz="1500" b="1" i="0" u="none" strike="noStrike" cap="none">
              <a:solidFill>
                <a:srgbClr val="0B3D9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 txBox="1"/>
          <p:nvPr/>
        </p:nvSpPr>
        <p:spPr>
          <a:xfrm>
            <a:off x="0" y="2646015"/>
            <a:ext cx="12192000" cy="7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Демонстрация приложения</a:t>
            </a:r>
            <a:endParaRPr lang="en-US" sz="4800" b="1" i="0" u="none" strike="noStrike" cap="none">
              <a:solidFill>
                <a:srgbClr val="FFFFFF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0" y="3617565"/>
            <a:ext cx="12192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Обзор интерфейса и функциональных возможностей</a:t>
            </a:r>
            <a:endParaRPr lang="en-US" sz="1800" b="0" i="0" u="none" strike="noStrike" cap="none">
              <a:solidFill>
                <a:srgbClr val="CBD5E1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1860</Words>
  <Application>WPS Presentation</Application>
  <PresentationFormat>Широкоэкранный</PresentationFormat>
  <Paragraphs>97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Times New Roman</vt:lpstr>
      <vt:lpstr>Open Sans</vt:lpstr>
      <vt:lpstr>Segoe Print</vt:lpstr>
      <vt:lpstr>Open Sans SemiBold</vt:lpstr>
      <vt:lpstr>Montserrat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Кирилл Шепелев</cp:lastModifiedBy>
  <cp:revision>3</cp:revision>
  <dcterms:created xsi:type="dcterms:W3CDTF">2026-06-04T18:14:00Z</dcterms:created>
  <dcterms:modified xsi:type="dcterms:W3CDTF">2026-06-07T14:59:59Z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1049-12.1.0.26372</vt:lpwstr>
  </property>
  <property fmtid="{D5CDD505-2E9C-101B-9397-08002B2CF9AE}" pid="3" name="ICV">
    <vt:lpwstr>B923BD4C473042019933CFC3957EFA64_12</vt:lpwstr>
  </property>
</Properties>
</file>